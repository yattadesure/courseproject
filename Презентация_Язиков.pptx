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7" r:id="rId6"/>
    <p:sldId id="260" r:id="rId7"/>
    <p:sldId id="261" r:id="rId8"/>
    <p:sldId id="264" r:id="rId9"/>
    <p:sldId id="265" r:id="rId10"/>
    <p:sldId id="266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Slab" pitchFamily="2" charset="0"/>
      <p:regular r:id="rId17"/>
      <p:bold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9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215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FAE3-BCED-A78F-CC23-C4E5CBA8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DF184-F0D5-0B36-F81F-3BC8A3047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60748-B01D-4E2E-5282-AD3D02FBA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51C3A-A367-2F86-1EBE-D062322D34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54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46A3-3E87-47E7-F4C4-6E981457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F06B0-3CD9-A5A8-35B4-73F7936A4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CF959-87EE-EBA3-F102-6E5A3036A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8BD00-E5AB-DC9D-CE52-7220F3900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91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3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75" y="-2186679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2013" y="2846210"/>
            <a:ext cx="12906374" cy="220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Курсовой проект</a:t>
            </a:r>
            <a:br>
              <a:rPr lang="ru-RU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32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Разработка</a:t>
            </a: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2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подсистемы</a:t>
            </a: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b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«Зелёный квартал. </a:t>
            </a:r>
            <a:r>
              <a:rPr lang="en-US" sz="32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Учёт</a:t>
            </a: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имущества»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0108440" y="5718561"/>
            <a:ext cx="3445635" cy="774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Студент группы ИСПП-21:</a:t>
            </a:r>
            <a:b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Язиков Эдуард Александрович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089515" y="630372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108440" y="6564533"/>
            <a:ext cx="4436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Руководитель</a:t>
            </a:r>
            <a:r>
              <a:rPr lang="en-US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b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ru-RU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Маломан</a:t>
            </a: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Юлия Сергеевна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2001356" y="-5216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FE3245-87C4-0861-B8DF-61B33A918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374672-976C-6336-1898-F515EF16A935}"/>
              </a:ext>
            </a:extLst>
          </p:cNvPr>
          <p:cNvSpPr txBox="1"/>
          <p:nvPr/>
        </p:nvSpPr>
        <p:spPr>
          <a:xfrm>
            <a:off x="2593179" y="291665"/>
            <a:ext cx="94440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ФЕДЕРАЛЬНОЕ ГОСУДАРСТВЕННОЕ БЮДЖЕТНОЕ ОБРАЗОВАТЕЛЬНОЕ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УЧРЕЖДЕНИЕ ВЫСШЕГО ОБРАЗОВАНИЯ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«САНКТ-ПЕТЕРБУРГСКИЙ ГОСУДАРСТВЕННЫЙ УНИВЕРСИТЕТ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ТЕЛЕКОММУНИКАЦИЙ ИМ. ПРОФ. М.А. БОНЧ-БРУЕВИЧА»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(СПбГУТ)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АРХАНГЕЛЬСКИЙ КОЛЛЕДЖ ТЕЛЕКОММУНИКАЦИЙ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ИМ. Б.Л. РОЗИНГА (ФИЛИАЛ) СПбГУТ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(АКТ (ф) СПбГУТ)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F33439-192A-53A7-1AE0-40D15B9441BD}"/>
              </a:ext>
            </a:extLst>
          </p:cNvPr>
          <p:cNvSpPr txBox="1"/>
          <p:nvPr/>
        </p:nvSpPr>
        <p:spPr>
          <a:xfrm>
            <a:off x="6164752" y="7694405"/>
            <a:ext cx="230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Архангельск,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481739"/>
            <a:ext cx="5670590" cy="708779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chemeClr val="tx2">
                <a:lumMod val="20000"/>
                <a:lumOff val="80000"/>
              </a:scheme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Актуальность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10025" y="37121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России более </a:t>
            </a:r>
            <a:r>
              <a:rPr lang="en-US" sz="1750" b="1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250 000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ТСН и ТСЖ.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10026" y="4382051"/>
            <a:ext cx="6238968" cy="80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Более </a:t>
            </a:r>
            <a:r>
              <a:rPr lang="en-US" sz="1750" b="1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60%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из них до сих пор используют Excel и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бумажные</a:t>
            </a:r>
            <a:b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носители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10026" y="53577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Рост числа жалоб на ошибки учёта — на </a:t>
            </a:r>
            <a:r>
              <a:rPr lang="en-US" sz="1750" b="1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за 2024 год.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10027" y="60575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Вывод: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необходимость цифровизации учёта имущества.</a:t>
            </a:r>
            <a:endParaRPr lang="en-US" sz="1750" dirty="0"/>
          </a:p>
        </p:txBody>
      </p:sp>
      <p:pic>
        <p:nvPicPr>
          <p:cNvPr id="1026" name="Picture 2" descr="Чем ТСН и ТСЖ отличаются от управляющих компаний">
            <a:extLst>
              <a:ext uri="{FF2B5EF4-FFF2-40B4-BE49-F238E27FC236}">
                <a16:creationId xmlns:a16="http://schemas.microsoft.com/office/drawing/2014/main" id="{FE3B99CA-CD44-148C-5B9A-C6BD89136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871877"/>
            <a:ext cx="6881184" cy="5160888"/>
          </a:xfrm>
          <a:prstGeom prst="rect">
            <a:avLst/>
          </a:prstGeom>
          <a:noFill/>
          <a:effectLst>
            <a:outerShdw blurRad="1270000" dist="38100" dir="2700000" algn="tl" rotWithShape="0">
              <a:schemeClr val="tx1">
                <a:alpha val="89000"/>
              </a:scheme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E4A4F67-CD1E-5F12-CA46-39599E6D6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40" y="1884641"/>
            <a:ext cx="5670590" cy="708779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Целевая аудитория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9487" y="3825241"/>
            <a:ext cx="1473160" cy="1473160"/>
          </a:xfrm>
          <a:prstGeom prst="rect">
            <a:avLst/>
          </a:prstGeom>
          <a:effectLst>
            <a:outerShdw blurRad="215900" dist="50800" dir="5400000" algn="ctr" rotWithShape="0">
              <a:schemeClr val="bg1">
                <a:alpha val="53000"/>
              </a:scheme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676638" y="5671780"/>
            <a:ext cx="32388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effectLst>
                  <a:outerShdw blurRad="50800" dist="50800" dir="5400000" algn="ctr" rotWithShape="0">
                    <a:schemeClr val="accent1">
                      <a:lumMod val="75000"/>
                    </a:schemeClr>
                  </a:outerShdw>
                </a:effectLst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Администраторы ТСН</a:t>
            </a:r>
            <a:endParaRPr lang="en-US" sz="2200" dirty="0">
              <a:effectLst>
                <a:outerShdw blurRad="50800" dist="50800" dir="5400000" algn="ctr" rotWithShape="0">
                  <a:schemeClr val="accent1">
                    <a:lumMod val="75000"/>
                  </a:schemeClr>
                </a:outerShdw>
              </a:effectLst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7373" y="3825240"/>
            <a:ext cx="1473160" cy="1473160"/>
          </a:xfrm>
          <a:prstGeom prst="rect">
            <a:avLst/>
          </a:prstGeom>
          <a:effectLst>
            <a:outerShdw blurRad="215900" dist="50800" dir="5400000" algn="ctr" rotWithShape="0">
              <a:schemeClr val="bg1">
                <a:alpha val="53000"/>
              </a:scheme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396335" y="56717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effectLst>
                  <a:outerShdw blurRad="50800" dist="50800" dir="5400000" algn="ctr" rotWithShape="0">
                    <a:schemeClr val="accent1">
                      <a:lumMod val="75000"/>
                    </a:schemeClr>
                  </a:outerShdw>
                </a:effectLst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Модераторы</a:t>
            </a:r>
            <a:endParaRPr lang="en-US" sz="2200" dirty="0">
              <a:effectLst>
                <a:outerShdw blurRad="50800" dist="50800" dir="5400000" algn="ctr" rotWithShape="0">
                  <a:schemeClr val="accent1">
                    <a:lumMod val="75000"/>
                  </a:schemeClr>
                </a:outerShdw>
              </a:effectLst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9568" y="3825241"/>
            <a:ext cx="1473159" cy="1473159"/>
          </a:xfrm>
          <a:prstGeom prst="rect">
            <a:avLst/>
          </a:prstGeom>
          <a:effectLst>
            <a:outerShdw blurRad="215900" dist="50800" dir="5400000" algn="ctr" rotWithShape="0">
              <a:schemeClr val="bg1">
                <a:alpha val="53000"/>
              </a:schemeClr>
            </a:outerShdw>
          </a:effectLst>
        </p:spPr>
      </p:pic>
      <p:sp>
        <p:nvSpPr>
          <p:cNvPr id="8" name="Text 3"/>
          <p:cNvSpPr/>
          <p:nvPr/>
        </p:nvSpPr>
        <p:spPr>
          <a:xfrm>
            <a:off x="10487619" y="5671780"/>
            <a:ext cx="31170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effectLst>
                  <a:outerShdw blurRad="50800" dist="50800" dir="5400000" algn="ctr" rotWithShape="0">
                    <a:schemeClr val="accent1">
                      <a:lumMod val="75000"/>
                    </a:schemeClr>
                  </a:outerShdw>
                </a:effectLst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Собственники жилья</a:t>
            </a:r>
            <a:endParaRPr lang="en-US" sz="2200" dirty="0">
              <a:effectLst>
                <a:outerShdw blurRad="50800" dist="50800" dir="5400000" algn="ctr" rotWithShape="0">
                  <a:schemeClr val="accent1">
                    <a:lumMod val="75000"/>
                  </a:schemeClr>
                </a:outerShdw>
              </a:effectLst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1882698-2AB3-87F4-731C-F9763DD9C0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7CB9B0-925C-4E64-DD62-8F24E1822BAE}"/>
              </a:ext>
            </a:extLst>
          </p:cNvPr>
          <p:cNvSpPr txBox="1"/>
          <p:nvPr/>
        </p:nvSpPr>
        <p:spPr>
          <a:xfrm>
            <a:off x="1976853" y="6076324"/>
            <a:ext cx="2638425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ru-RU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Полный доступ, управление данными, экспорт отчётов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726CB-374C-CBA6-14AA-D3B1677A62C7}"/>
              </a:ext>
            </a:extLst>
          </p:cNvPr>
          <p:cNvSpPr txBox="1"/>
          <p:nvPr/>
        </p:nvSpPr>
        <p:spPr>
          <a:xfrm>
            <a:off x="6494739" y="6076324"/>
            <a:ext cx="2638425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ru-RU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Редактирование данных по имуществу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9898F8-9550-37FC-481A-EBB840696A38}"/>
              </a:ext>
            </a:extLst>
          </p:cNvPr>
          <p:cNvSpPr txBox="1"/>
          <p:nvPr/>
        </p:nvSpPr>
        <p:spPr>
          <a:xfrm>
            <a:off x="10726934" y="6076324"/>
            <a:ext cx="2638425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ru-RU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Просмотр своей недвижимости, личный кабинет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8722"/>
            <a:ext cx="6632138" cy="708779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schemeClr val="tx2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</a:t>
            </a: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проекта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0854"/>
            <a:ext cx="10645736" cy="84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Цель: Разработать </a:t>
            </a:r>
            <a:r>
              <a:rPr lang="ru-RU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веб-ориентированную информационную систему</a:t>
            </a:r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b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автоматизированного учёта имущества в ТСН «Зелёный квартал».</a:t>
            </a:r>
            <a:endParaRPr lang="en-US" sz="2400" dirty="0">
              <a:solidFill>
                <a:schemeClr val="accent1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ECAC26-7FA7-1B9D-308B-1D029625C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349CAD-56E4-B547-1B83-4115628C19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3614" y="2867501"/>
            <a:ext cx="3308222" cy="3308222"/>
          </a:xfrm>
          <a:prstGeom prst="rect">
            <a:avLst/>
          </a:prstGeom>
          <a:effectLst>
            <a:outerShdw blurRad="279400" dist="50800" dir="5400000" algn="ctr" rotWithShape="0">
              <a:schemeClr val="bg1">
                <a:alpha val="47000"/>
              </a:scheme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108F3-8D4A-10A9-05EF-2AE352ED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3D2BD6-51D0-4565-20AC-62F9D4A0F695}"/>
              </a:ext>
            </a:extLst>
          </p:cNvPr>
          <p:cNvSpPr/>
          <p:nvPr/>
        </p:nvSpPr>
        <p:spPr>
          <a:xfrm>
            <a:off x="793790" y="2158722"/>
            <a:ext cx="6632138" cy="708779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schemeClr val="tx2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Задачи</a:t>
            </a: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проекта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EBEDBA-FBE5-862A-8146-B7D47B438378}"/>
              </a:ext>
            </a:extLst>
          </p:cNvPr>
          <p:cNvSpPr/>
          <p:nvPr/>
        </p:nvSpPr>
        <p:spPr>
          <a:xfrm>
            <a:off x="1003340" y="978736"/>
            <a:ext cx="10645736" cy="848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endParaRPr lang="en-US" sz="2400" dirty="0">
              <a:solidFill>
                <a:schemeClr val="accent1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57F867-765F-77F1-4C3D-C4B41BCAE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A0170C-0CA7-B9EC-79CF-BA101BA850C9}"/>
              </a:ext>
            </a:extLst>
          </p:cNvPr>
          <p:cNvSpPr txBox="1"/>
          <p:nvPr/>
        </p:nvSpPr>
        <p:spPr>
          <a:xfrm>
            <a:off x="793790" y="3518332"/>
            <a:ext cx="9321760" cy="3029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Провести анализ предметной области и сформулировать требования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Спроектировать архитектуру, БД и интерфейс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Реализовать клиент-серверное приложение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Внедрить систему ролевого доступа (JWT, авторизация)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Реализовать экспорт данных в Excel/CSV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2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Провести тестирование и отладку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2D5732A-8FD5-D403-999C-7CB664E33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3614" y="2867501"/>
            <a:ext cx="3308222" cy="3308222"/>
          </a:xfrm>
          <a:prstGeom prst="rect">
            <a:avLst/>
          </a:prstGeom>
          <a:effectLst>
            <a:outerShdw blurRad="279400" dist="50800" dir="5400000" algn="ctr" rotWithShape="0">
              <a:schemeClr val="bg1">
                <a:alpha val="47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6252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6537722" cy="708779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Технологический стек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  <a:effectLst>
            <a:innerShdw blurRad="114300">
              <a:prstClr val="black"/>
            </a:inn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232303"/>
            <a:ext cx="680442" cy="680442"/>
          </a:xfrm>
          <a:prstGeom prst="rect">
            <a:avLst/>
          </a:prstGeom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139559"/>
            <a:ext cx="56659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Frontend: Vue.js 3</a:t>
            </a:r>
            <a:r>
              <a:rPr lang="ru-RU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+ </a:t>
            </a: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Composition API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Современный фреймворк для интерактивных интерфейсов.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  <a:effectLst>
            <a:innerShdw blurRad="114300">
              <a:prstClr val="black"/>
            </a:inn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5362" y="2232303"/>
            <a:ext cx="680442" cy="680442"/>
          </a:xfrm>
          <a:prstGeom prst="rect">
            <a:avLst/>
          </a:prstGeom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5362" y="3139559"/>
            <a:ext cx="33614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Backend: ASP.NET Core 9 (C#)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Кроссплатформенная платформа для высокопроизводительных приложений.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  <a:effectLst>
            <a:innerShdw blurRad="114300">
              <a:prstClr val="black"/>
            </a:inn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604" y="5036225"/>
            <a:ext cx="680442" cy="680442"/>
          </a:xfrm>
          <a:prstGeom prst="rect">
            <a:avLst/>
          </a:prstGeom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0604" y="5943481"/>
            <a:ext cx="33426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БД: Microsoft SQL Server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Надёжная и масштабируемая реляционная база данных.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  <a:effectLst>
            <a:innerShdw blurRad="114300">
              <a:prstClr val="black"/>
            </a:innerShdw>
          </a:effectLst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5362" y="5036225"/>
            <a:ext cx="680442" cy="680442"/>
          </a:xfrm>
          <a:prstGeom prst="rect">
            <a:avLst/>
          </a:prstGeom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55362" y="5943481"/>
            <a:ext cx="32787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Аутентификация: JWT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Безопасный стандарт для передачи информации между сторонами.</a:t>
            </a:r>
            <a:endParaRPr lang="en-US" sz="17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2FD2042-781D-32F2-6E72-9E33EDE083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881" y="450890"/>
            <a:ext cx="4645223" cy="51232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Архитектура системы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3881" y="1725614"/>
            <a:ext cx="5550694" cy="947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Клиент-серверная </a:t>
            </a:r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обеспечивает</a:t>
            </a:r>
            <a:b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гибкость и масштабируемость.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041" y="761404"/>
            <a:ext cx="9093160" cy="6834783"/>
          </a:xfrm>
          <a:prstGeom prst="rect">
            <a:avLst/>
          </a:prstGeom>
          <a:effectLst>
            <a:outerShdw blurRad="203200" dist="50800" dir="5400000" algn="ctr" rotWithShape="0">
              <a:schemeClr val="accent1">
                <a:lumMod val="40000"/>
                <a:lumOff val="60000"/>
              </a:scheme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922839" y="4271443"/>
            <a:ext cx="2435564" cy="60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Клиент‑серверное взаимодействие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802822" y="5479123"/>
            <a:ext cx="2467074" cy="45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ASP.NET</a:t>
            </a:r>
            <a:b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API (сервер)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802822" y="6390889"/>
            <a:ext cx="2467074" cy="9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Обрабатывает запросы и бизнес-логику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985567" y="5481819"/>
            <a:ext cx="2467074" cy="37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База</a:t>
            </a:r>
            <a:r>
              <a:rPr lang="en-US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данных</a:t>
            </a:r>
            <a:br>
              <a:rPr lang="en-US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br>
              <a:rPr lang="en-US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MS SQL Server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985567" y="6391276"/>
            <a:ext cx="2467074" cy="703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Сохраняет</a:t>
            </a: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</a:t>
            </a:r>
            <a:b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возвращает</a:t>
            </a: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данные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73378" y="1118906"/>
            <a:ext cx="2534486" cy="60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VUE.js</a:t>
            </a:r>
            <a:br>
              <a:rPr lang="en-US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+</a:t>
            </a:r>
            <a:br>
              <a:rPr lang="en-US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Клиент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73378" y="1979253"/>
            <a:ext cx="2534486" cy="60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Отправляет запросы и получает ответ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3881" y="8757047"/>
            <a:ext cx="13482638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Схема взаимодействия: клиент → API → БД.</a:t>
            </a:r>
            <a:endParaRPr lang="en-US" sz="12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D4262A7-1067-7C10-ED36-2ABE87E8F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7125772" cy="708779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Преимущества решения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214688"/>
            <a:ext cx="121920" cy="1367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471982"/>
            <a:ext cx="53428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Автоматизация рутинных операций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96240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Экономия времени и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ресурсов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Возможность экспорта.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3214688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3214688"/>
            <a:ext cx="121920" cy="13679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3471982"/>
            <a:ext cx="36797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Снижение ошибок на </a:t>
            </a:r>
            <a:r>
              <a:rPr lang="en-US" sz="22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40%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396240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Повышение точности учёта.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09411"/>
            <a:ext cx="121920" cy="13679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5066705"/>
            <a:ext cx="47148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Готовность к масштабированию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555712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Возможность расширения функционала.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809411"/>
            <a:ext cx="121920" cy="136790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066705"/>
            <a:ext cx="31719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Безопасность данных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555712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</a:t>
            </a: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токены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ролевая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</a:t>
            </a: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(3 уровня доступа)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7F98EDA-4774-DC56-90BE-FDC31FD5D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5985" y="1660981"/>
            <a:ext cx="3327440" cy="35433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4400" dirty="0">
                <a:solidFill>
                  <a:srgbClr val="76B9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Заключение</a:t>
            </a:r>
            <a:endParaRPr lang="en-US" sz="4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ECD231D-9CBB-83E9-82F4-35235685B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A551ABB-63D6-41E0-962D-D7EF9D981280}"/>
              </a:ext>
            </a:extLst>
          </p:cNvPr>
          <p:cNvSpPr txBox="1"/>
          <p:nvPr/>
        </p:nvSpPr>
        <p:spPr>
          <a:xfrm>
            <a:off x="1215985" y="2539923"/>
            <a:ext cx="6003965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Цель проекта </a:t>
            </a:r>
            <a:r>
              <a:rPr lang="ru-RU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достигнута</a:t>
            </a:r>
            <a:endParaRPr lang="ru-RU" b="0" i="0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Разработана </a:t>
            </a:r>
            <a:r>
              <a:rPr lang="ru-RU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полнофункциональная веб-система</a:t>
            </a:r>
            <a:r>
              <a:rPr lang="ru-RU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br>
              <a:rPr lang="ru-RU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учёта имущества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Все задачи выполнены: от анализа до тестирования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Система </a:t>
            </a:r>
            <a:r>
              <a:rPr lang="ru-RU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готова к внедрению</a:t>
            </a:r>
            <a:r>
              <a:rPr lang="ru-RU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и масштабированию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5D73F13-EC4C-D5AF-13B4-7505B7DB4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5" y="2015311"/>
            <a:ext cx="3457575" cy="3457575"/>
          </a:xfrm>
          <a:prstGeom prst="rect">
            <a:avLst/>
          </a:prstGeom>
          <a:noFill/>
          <a:ln>
            <a:noFill/>
          </a:ln>
          <a:effectLst>
            <a:outerShdw blurRad="228600" dist="50800" dir="5400000" algn="ctr" rotWithShape="0">
              <a:schemeClr val="accent1"/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A9768-B7E2-D2B6-BE3F-4B69ADC1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9BB7C8B-6641-7FFA-BDEA-A3C58FC70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75" y="-2186679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7C7B58A-2818-40F4-B40B-7318593A1BE9}"/>
              </a:ext>
            </a:extLst>
          </p:cNvPr>
          <p:cNvSpPr/>
          <p:nvPr/>
        </p:nvSpPr>
        <p:spPr>
          <a:xfrm>
            <a:off x="862013" y="2846210"/>
            <a:ext cx="12906374" cy="220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Курсовой проект</a:t>
            </a:r>
            <a:br>
              <a:rPr lang="ru-RU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32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Разработка</a:t>
            </a: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2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подсистемы</a:t>
            </a: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b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«Зелёный квартал. </a:t>
            </a:r>
            <a:r>
              <a:rPr lang="en-US" sz="32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Учёт</a:t>
            </a: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имущества»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D2AFF3E-0EE4-22F9-4F25-05B64CABAEAA}"/>
              </a:ext>
            </a:extLst>
          </p:cNvPr>
          <p:cNvSpPr/>
          <p:nvPr/>
        </p:nvSpPr>
        <p:spPr>
          <a:xfrm>
            <a:off x="10108440" y="5718561"/>
            <a:ext cx="3445635" cy="774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Студент группы ИСПП-21:</a:t>
            </a:r>
            <a:b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Язиков Эдуард Александрович</a:t>
            </a:r>
            <a:endParaRPr lang="en-US" sz="1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AFFB514-8B8D-FE69-0DAC-5686475B6D48}"/>
              </a:ext>
            </a:extLst>
          </p:cNvPr>
          <p:cNvSpPr/>
          <p:nvPr/>
        </p:nvSpPr>
        <p:spPr>
          <a:xfrm>
            <a:off x="11089515" y="630372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8744B2-2E28-1600-0190-8EDC4A8094DF}"/>
              </a:ext>
            </a:extLst>
          </p:cNvPr>
          <p:cNvSpPr/>
          <p:nvPr/>
        </p:nvSpPr>
        <p:spPr>
          <a:xfrm>
            <a:off x="10108440" y="6564533"/>
            <a:ext cx="4436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Руководитель</a:t>
            </a:r>
            <a:r>
              <a:rPr lang="en-US" sz="2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b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ru-RU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Маломан</a:t>
            </a:r>
            <a:r>
              <a:rPr lang="ru-RU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Юлия Сергеевна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2EDD634-7271-56A9-40F0-EA11139F75C4}"/>
              </a:ext>
            </a:extLst>
          </p:cNvPr>
          <p:cNvSpPr/>
          <p:nvPr/>
        </p:nvSpPr>
        <p:spPr>
          <a:xfrm>
            <a:off x="2001356" y="-5216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50AFFD0-0B19-8763-667B-5F93A54CA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7725" y="7596187"/>
            <a:ext cx="2352675" cy="5619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D6D52A-C877-3792-0D19-314D4BF3BB9A}"/>
              </a:ext>
            </a:extLst>
          </p:cNvPr>
          <p:cNvSpPr txBox="1"/>
          <p:nvPr/>
        </p:nvSpPr>
        <p:spPr>
          <a:xfrm>
            <a:off x="2593179" y="291665"/>
            <a:ext cx="94440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ФЕДЕРАЛЬНОЕ ГОСУДАРСТВЕННОЕ БЮДЖЕТНОЕ ОБРАЗОВАТЕЛЬНОЕ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УЧРЕЖДЕНИЕ ВЫСШЕГО ОБРАЗОВАНИЯ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«САНКТ-ПЕТЕРБУРГСКИЙ ГОСУДАРСТВЕННЫЙ УНИВЕРСИТЕТ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ТЕЛЕКОММУНИКАЦИЙ ИМ. ПРОФ. М.А. БОНЧ-БРУЕВИЧА»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(СПбГУТ)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АРХАНГЕЛЬСКИЙ КОЛЛЕДЖ ТЕЛЕКОММУНИКАЦИЙ 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ИМ. Б.Л. РОЗИНГА (ФИЛИАЛ) СПбГУТ</a:t>
            </a:r>
            <a:b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(АКТ (ф) СПбГУТ)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BE18C-9895-AE44-05F6-A9BD8FE8C57C}"/>
              </a:ext>
            </a:extLst>
          </p:cNvPr>
          <p:cNvSpPr txBox="1"/>
          <p:nvPr/>
        </p:nvSpPr>
        <p:spPr>
          <a:xfrm>
            <a:off x="6164752" y="7694405"/>
            <a:ext cx="2300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Архангельск, 2025</a:t>
            </a:r>
          </a:p>
        </p:txBody>
      </p:sp>
    </p:spTree>
    <p:extLst>
      <p:ext uri="{BB962C8B-B14F-4D97-AF65-F5344CB8AC3E}">
        <p14:creationId xmlns:p14="http://schemas.microsoft.com/office/powerpoint/2010/main" val="2978727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501</Words>
  <Application>Microsoft Office PowerPoint</Application>
  <PresentationFormat>Произвольный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Roboto Slab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Eduardo</dc:creator>
  <cp:lastModifiedBy>Yazikov Edik</cp:lastModifiedBy>
  <cp:revision>5</cp:revision>
  <dcterms:created xsi:type="dcterms:W3CDTF">2025-12-08T12:47:02Z</dcterms:created>
  <dcterms:modified xsi:type="dcterms:W3CDTF">2025-12-09T04:14:30Z</dcterms:modified>
</cp:coreProperties>
</file>